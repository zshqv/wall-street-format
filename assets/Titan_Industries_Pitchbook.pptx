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059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1088136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Titan Industries,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Confidential Information Memorandum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  <a:latin typeface="Arial"/>
              </a:defRPr>
            </a:pPr>
            <a:r>
              <a:t>Project Titan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8096"/>
                </a:solidFill>
                <a:latin typeface="Arial"/>
              </a:defRPr>
            </a:pPr>
            <a:r>
              <a:t>Prepared by Titan Capital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Arial"/>
              </a:defRPr>
            </a:pPr>
            <a:r>
              <a:t>Project Titan  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540"/>
                </a:solidFill>
                <a:latin typeface="Arial"/>
              </a:defRPr>
            </a:pPr>
            <a:r>
              <a:t>Titan Industries Is a Market Leader Positioned for Accelerated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5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Titan Industries is a diversified industrial technology company with $2.4B in FY2024E revenue, serving enterprise clients across manufacturing, logistics, and energy sectors with mission-critical software and hardware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474720" cy="457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Revenue has grown at a 15% CAGR over the past 3 years, driven by enterprise SaaS expansion and strategic M&amp;A. EBITDA margins are expanding from 22% to 28% through operating leverage and product mix shift.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9" y="1554480"/>
            <a:ext cx="3474720" cy="457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Investment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The company represents a compelling platform investment opportunity with multiple organic and inorganic growth levers, strong FCF generation ($279M FY2024E), and a clear path to $1B+ EBITDA within 5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Arial"/>
              </a:defRPr>
            </a:pPr>
            <a:r>
              <a:t>Project Titan  |  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540"/>
                </a:solidFill>
                <a:latin typeface="Arial"/>
              </a:defRPr>
            </a:pPr>
            <a:r>
              <a:t>Revenue Growing at 15% CAGR with EBITDA Margins Expanding 600bps Over Forecast 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5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56032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2540"/>
                </a:solidFill>
                <a:latin typeface="Arial"/>
              </a:defRPr>
            </a:pPr>
            <a:r>
              <a:t>$2.4B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FY2024E</a:t>
            </a:r>
            <a:br/>
            <a:r>
              <a:t>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554480"/>
            <a:ext cx="256032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19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2540"/>
                </a:solidFill>
                <a:latin typeface="Arial"/>
              </a:defRPr>
            </a:pPr>
            <a:r>
              <a:t>26.0%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FY2024E</a:t>
            </a:r>
            <a:br/>
            <a:r>
              <a:t>EBITDA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256032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2540"/>
                </a:solidFill>
                <a:latin typeface="Arial"/>
              </a:defRPr>
            </a:pPr>
            <a:r>
              <a:t>$279M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FY2024E</a:t>
            </a:r>
            <a:br/>
            <a:r>
              <a:t>Free Cash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59" y="1554480"/>
            <a:ext cx="256032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39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0000"/>
                </a:solidFill>
                <a:latin typeface="Arial"/>
              </a:defRPr>
            </a:pPr>
            <a:r>
              <a:t>15.0%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39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Revenue</a:t>
            </a:r>
            <a:br/>
            <a:r>
              <a:t>CAGR ('22-'24)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32004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2022A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2023A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2024E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2025E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 2026E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$1,850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$2,120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$2,438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$2,804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$3,164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$407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$508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$634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$757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$886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Free Cash Flow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$123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$198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$279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$353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$437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Arial"/>
              </a:defRPr>
            </a:pPr>
            <a:r>
              <a:t>Project Titan  |  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540"/>
                </a:solidFill>
                <a:latin typeface="Arial"/>
              </a:defRPr>
            </a:pPr>
            <a:r>
              <a:t>DCF Analysis Implies $24.69 Per Share; LBO Supports 2.4x MOIC at 33.8% IRR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5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457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DCF 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WACC: 9.0%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Terminal Growth: 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Enterprise Value: $5,483M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Equity Value: $6,173M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Implied Share Price: $24.69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LBO Returns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Entry Multiple: 10.0x EBITDA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Leverage: 6.0x at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Exit Multiple: 10.0x 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MOIC: 2.4x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IRR: 33.8%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10881360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Recommendation: Titan represents an attractive acquisition target at current valuations. The combination of secular tailwinds, margin expansion trajectory, and strong FCF generation supports a premium valuation. We recommend proceeding to Phase II due diligence.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Arial"/>
              </a:defRPr>
            </a:pPr>
            <a:r>
              <a:t>Project Titan  |  Risk Factors &amp;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540"/>
                </a:solidFill>
                <a:latin typeface="Arial"/>
              </a:defRPr>
            </a:pPr>
            <a:r>
              <a:t>Key Risks Are Manageable with Appropriate Structuring and Diligence Focus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5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Customer 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Top 10 customers represent ~35% of revenue. Mitigation: diversified end-market exposure and long-term contracts with 95%+ renewal rates.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Integration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Prior acquisitions require continued integration effort. Mitigation: dedicated PMO with track record of achieving &gt;90% of targeted synergies within 18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530352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Macro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Industrial end-markets correlate with GDP cycles. Mitigation: 60% recurring revenue base with high switching costs provides downside protection.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931920"/>
            <a:ext cx="530352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Technology Disruption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434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Emerging competitors in adjacent software verticals. Mitigation: $195M+ annual R&amp;D investment and 50+ patents protect competitive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